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rimo"/>
      <p:regular r:id="rId201314"/>
    </p:embeddedFont>
    <p:embeddedFont>
      <p:font typeface="Arimo Medium"/>
      <p:regular r:id="rId201315"/>
    </p:embeddedFont>
    <p:embeddedFont>
      <p:font typeface="Arimo SemiBold"/>
      <p:regular r:id="rId201316"/>
    </p:embeddedFont>
    <p:embeddedFont>
      <p:font typeface="Arimo Bold"/>
      <p:regular r:id="rId201317"/>
    </p:embeddedFont>
    <p:embeddedFont>
      <p:font typeface="Syne"/>
      <p:regular r:id="rId201318"/>
    </p:embeddedFont>
    <p:embeddedFont>
      <p:font typeface="Syne Medium"/>
      <p:regular r:id="rId201319"/>
    </p:embeddedFont>
    <p:embeddedFont>
      <p:font typeface="Syne SemiBold"/>
      <p:regular r:id="rId201320"/>
    </p:embeddedFont>
    <p:embeddedFont>
      <p:font typeface="Syne Bold"/>
      <p:regular r:id="rId201321"/>
    </p:embeddedFont>
    <p:embeddedFont>
      <p:font typeface="Syne ExtraBold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780133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884512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Uncovering spending patterns, customer segments, and product preferences from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806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to guide strategic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8898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403003"/>
            <a:ext cx="39548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3,900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523577" y="2083668"/>
            <a:ext cx="39548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5464" y="1403003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18</a:t>
            </a:r>
            <a:endParaRPr lang="en-US" sz="3850" dirty="0"/>
          </a:p>
        </p:txBody>
      </p:sp>
      <p:sp>
        <p:nvSpPr>
          <p:cNvPr id="6" name="Text 4"/>
          <p:cNvSpPr/>
          <p:nvPr/>
        </p:nvSpPr>
        <p:spPr>
          <a:xfrm>
            <a:off x="4665464" y="2083668"/>
            <a:ext cx="3954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23577" y="2677641"/>
            <a:ext cx="39548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37</a:t>
            </a:r>
            <a:endParaRPr lang="en-US" sz="3850" dirty="0"/>
          </a:p>
        </p:txBody>
      </p:sp>
      <p:sp>
        <p:nvSpPr>
          <p:cNvPr id="8" name="Text 6"/>
          <p:cNvSpPr/>
          <p:nvPr/>
        </p:nvSpPr>
        <p:spPr>
          <a:xfrm>
            <a:off x="523577" y="3358307"/>
            <a:ext cx="39548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23577" y="3668018"/>
            <a:ext cx="39548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Review Rating column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5464" y="2677641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$59.76</a:t>
            </a:r>
            <a:endParaRPr lang="en-US" sz="3850" dirty="0"/>
          </a:p>
        </p:txBody>
      </p:sp>
      <p:sp>
        <p:nvSpPr>
          <p:cNvPr id="11" name="Text 9"/>
          <p:cNvSpPr/>
          <p:nvPr/>
        </p:nvSpPr>
        <p:spPr>
          <a:xfrm>
            <a:off x="4665464" y="3358307"/>
            <a:ext cx="3954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Avg Purchase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3577" y="4075658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Features include demographics, purchase details, and shopping behavior signals — discounts, promos, frequency, and ratings.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647774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Preparation in Python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8686" y="1756804"/>
            <a:ext cx="224358" cy="2243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38724" y="1752154"/>
            <a:ext cx="41816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Clean &amp; Standardize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438724" y="2061865"/>
            <a:ext cx="4181698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Imputed missing ratings by category median; renamed columns to snake_case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8686" y="2844515"/>
            <a:ext cx="224358" cy="2243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38724" y="2839864"/>
            <a:ext cx="41816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438724" y="3149575"/>
            <a:ext cx="4181698" cy="248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Created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bins and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08686" y="3702360"/>
            <a:ext cx="224358" cy="2243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38724" y="3697709"/>
            <a:ext cx="418169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Database Ready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438724" y="4007421"/>
            <a:ext cx="4181698" cy="488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Dropped redundant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; loaded cleaned data into PostgreSQL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Male customers generate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806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than female customers — a significant gap worth investigating.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High-Spending Discount Users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49386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Who Are They?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23577" y="1863403"/>
            <a:ext cx="3865959" cy="1092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Customers who used discounts but still spent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above average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806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839 customers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identified.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Top spenders ranged from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$62 to $97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per transaction despite using discounts.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9226" y="1512540"/>
            <a:ext cx="3865959" cy="27827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9515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Product Ratings &amp; Shipping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0909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Top 5 Products by Rating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97310"/>
            <a:ext cx="3865959" cy="2782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9226" y="130909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Shipping Type Comparison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759226" y="1697310"/>
            <a:ext cx="1858194" cy="908075"/>
          </a:xfrm>
          <a:prstGeom prst="roundRect">
            <a:avLst>
              <a:gd name="adj" fmla="val 2471"/>
            </a:avLst>
          </a:prstGeom>
          <a:solidFill>
            <a:srgbClr val="2B2952"/>
          </a:solidFill>
          <a:ln/>
        </p:spPr>
      </p:sp>
      <p:sp>
        <p:nvSpPr>
          <p:cNvPr id="7" name="Text 4"/>
          <p:cNvSpPr/>
          <p:nvPr/>
        </p:nvSpPr>
        <p:spPr>
          <a:xfrm>
            <a:off x="4908798" y="1846883"/>
            <a:ext cx="155904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Standard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08798" y="2216423"/>
            <a:ext cx="155904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$58.46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avg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66992" y="1697310"/>
            <a:ext cx="1858194" cy="908075"/>
          </a:xfrm>
          <a:prstGeom prst="roundRect">
            <a:avLst>
              <a:gd name="adj" fmla="val 2471"/>
            </a:avLst>
          </a:prstGeom>
          <a:solidFill>
            <a:srgbClr val="2B2952"/>
          </a:solidFill>
          <a:ln/>
        </p:spPr>
      </p:sp>
      <p:sp>
        <p:nvSpPr>
          <p:cNvPr id="10" name="Text 7"/>
          <p:cNvSpPr/>
          <p:nvPr/>
        </p:nvSpPr>
        <p:spPr>
          <a:xfrm>
            <a:off x="6916564" y="1846883"/>
            <a:ext cx="155904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Express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16564" y="2216423"/>
            <a:ext cx="155904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avg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759226" y="2773635"/>
            <a:ext cx="3865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Express shipping customers spend slightly more on average.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Gap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1092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Non-subscribers drive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806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73% of total revenue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despite similar average spend (~$59).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Only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27%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of customers are subscribed — a major growth opportunity.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25289"/>
            <a:ext cx="8096845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Customer Segmentation &amp; Revenue by Age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23577" y="1302469"/>
            <a:ext cx="3871615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Customer Segments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73423"/>
            <a:ext cx="3871615" cy="27868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3570" y="1302469"/>
            <a:ext cx="3871615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Revenue by Age Group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570" y="1673423"/>
            <a:ext cx="3871615" cy="27868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196801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23577" y="1861170"/>
            <a:ext cx="2259137" cy="1087636"/>
          </a:xfrm>
          <a:prstGeom prst="roundRect">
            <a:avLst>
              <a:gd name="adj" fmla="val 2063"/>
            </a:avLst>
          </a:prstGeom>
          <a:solidFill>
            <a:srgbClr val="2B2952"/>
          </a:solidFill>
          <a:ln/>
        </p:spPr>
      </p:sp>
      <p:sp>
        <p:nvSpPr>
          <p:cNvPr id="5" name="Text 2"/>
          <p:cNvSpPr/>
          <p:nvPr/>
        </p:nvSpPr>
        <p:spPr>
          <a:xfrm>
            <a:off x="673150" y="2010742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Filters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73150" y="2320454"/>
            <a:ext cx="19599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Subscription, Gender, Category, Shipping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932286" y="1861170"/>
            <a:ext cx="2259137" cy="1087636"/>
          </a:xfrm>
          <a:prstGeom prst="roundRect">
            <a:avLst>
              <a:gd name="adj" fmla="val 2063"/>
            </a:avLst>
          </a:prstGeom>
          <a:solidFill>
            <a:srgbClr val="2B2952"/>
          </a:solidFill>
          <a:ln/>
        </p:spPr>
      </p:sp>
      <p:sp>
        <p:nvSpPr>
          <p:cNvPr id="8" name="Text 5"/>
          <p:cNvSpPr/>
          <p:nvPr/>
        </p:nvSpPr>
        <p:spPr>
          <a:xfrm>
            <a:off x="3081858" y="2010742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Visualizations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81858" y="2320454"/>
            <a:ext cx="19599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Revenue by category &amp; age group; sales counts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23577" y="3098378"/>
            <a:ext cx="4667845" cy="848246"/>
          </a:xfrm>
          <a:prstGeom prst="roundRect">
            <a:avLst>
              <a:gd name="adj" fmla="val 2646"/>
            </a:avLst>
          </a:prstGeom>
          <a:solidFill>
            <a:srgbClr val="2B2952"/>
          </a:solidFill>
          <a:ln/>
        </p:spPr>
      </p:sp>
      <p:sp>
        <p:nvSpPr>
          <p:cNvPr id="11" name="Text 8"/>
          <p:cNvSpPr/>
          <p:nvPr/>
        </p:nvSpPr>
        <p:spPr>
          <a:xfrm>
            <a:off x="673150" y="3247951"/>
            <a:ext cx="43687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Metrics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73150" y="3557662"/>
            <a:ext cx="43687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3.9K customers · $59.76 avg · 3.75 rating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82935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722165"/>
            <a:ext cx="299219" cy="299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9799" y="1773585"/>
            <a:ext cx="20880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09799" y="2083296"/>
            <a:ext cx="20880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Promote exclusive subscriber benefits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4860" y="1722165"/>
            <a:ext cx="299219" cy="299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71081" y="1773585"/>
            <a:ext cx="20880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71081" y="2083296"/>
            <a:ext cx="20880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Reward repeat buyers toward "Loyal" segment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6143" y="1722165"/>
            <a:ext cx="299219" cy="299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32364" y="1773585"/>
            <a:ext cx="208805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32364" y="2303264"/>
            <a:ext cx="20880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Balance sales lift with margin control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77" y="3081263"/>
            <a:ext cx="299219" cy="2992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9799" y="3132683"/>
            <a:ext cx="20880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009799" y="3442395"/>
            <a:ext cx="208805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Focus on high-revenue age groups &amp; express-shipping users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84860" y="3081263"/>
            <a:ext cx="299219" cy="29921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71081" y="3132683"/>
            <a:ext cx="20880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771081" y="3442395"/>
            <a:ext cx="20880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Highlight top-rated &amp; best-selling products in campaigns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2026-07-19T09:08:57Z</dcterms:created>
  <dcterms:modified xsi:type="dcterms:W3CDTF">2026-07-19T09:08:57Z</dcterms:modified>
</cp:coreProperties>
</file>